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TECHSTORESys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/>
            </a:pPr>
            <a:r>
              <a:t>IT Directorate Tech Stores -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Zimbabwe National Army | v2.2 | 01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107 screens - stores, GL, procurement portals, ZNA Q forms, role workspaces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5E3B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1. Login &amp;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2. Role-based home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3. Role-based navigation (sidebar)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4825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4. Dashboard &amp;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5. IT Dir department desks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6. Stakeholder portals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9067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7. General ledger &amp; 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3814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8. Equipment, loans &amp;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8561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9. Procurement &amp; creditors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10. Workshop &amp; compare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11. ZNA Q forms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2803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12. ZNA Q &amp; SVCS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7550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13. Administration &amp;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Login &amp;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Login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Sign-in screen for TECHSTORESys. Controls who sees which modules and whether data saves to the local database.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Enter username and password. Default mode is Database (techstores.db). After sign-in the sidebar and dashboard match your role.</a:t>
            </a:r>
          </a:p>
        </p:txBody>
      </p:sp>
      <p:pic>
        <p:nvPicPr>
          <p:cNvPr id="4" name="Picture 3" descr="00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Application shell (sidebar + header)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Main application layout: sidebar navigation, header bar, and content area.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Sidebar groups modules (Dashboard, GL, Stores, Portals, ZNA Q, etc.). Header has Import document, Appearance, Logout. Content area shows the active module.</a:t>
            </a:r>
          </a:p>
        </p:txBody>
      </p:sp>
      <p:pic>
        <p:nvPicPr>
          <p:cNvPr id="5" name="Picture 4" descr="01-app-sh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828" y="2331720"/>
            <a:ext cx="251386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Role-based home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RP Gate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RP Gate — shortcuts to Gate Register only.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rp. Dashboard kicker changes to gate context. Only Gate Register appears in sidebar.</a:t>
            </a:r>
          </a:p>
        </p:txBody>
      </p:sp>
      <p:pic>
        <p:nvPicPr>
          <p:cNvPr id="5" name="Picture 4" descr="role-home-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Storeman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storeman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Storeman — Q 1033, stock take, loans, ZNA Q forms.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storeman. Shortcut buttons open daily stores forms without browsing full GL menu.</a:t>
            </a:r>
          </a:p>
        </p:txBody>
      </p:sp>
      <p:pic>
        <p:nvPicPr>
          <p:cNvPr id="5" name="Picture 4" descr="role-home-store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308" y="2331720"/>
            <a:ext cx="187090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Workshop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Workshop — repairs register, spec eval, comms.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workshop. Primary button opens Workshop Register; spec eval and comms secondary.</a:t>
            </a:r>
          </a:p>
        </p:txBody>
      </p:sp>
      <p:pic>
        <p:nvPicPr>
          <p:cNvPr id="5" name="Picture 4" descr="role-home-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784" y="2331720"/>
            <a:ext cx="204395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Orderly Room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orderly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Orderly Room — Daily File, doc import, comms.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orderly. Opens Orderly Room and correspondence workflows; no GL ledgers.</a:t>
            </a:r>
          </a:p>
        </p:txBody>
      </p:sp>
      <p:pic>
        <p:nvPicPr>
          <p:cNvPr id="5" name="Picture 4" descr="role-home-order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Department comms (SysAdmin)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sysadmin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department OC — IT Dir Comms only.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sysadmin/dba/etc. Single comms shortcut; sidebar hides stores and procurement.</a:t>
            </a:r>
          </a:p>
        </p:txBody>
      </p:sp>
      <p:pic>
        <p:nvPicPr>
          <p:cNvPr id="5" name="Picture 4" descr="role-home-com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Directorate Procurement (DP)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DP — portals board, DP window, PO, suppliers.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dp. Buttons open DP portal and procurement cycle; no stores ledgers visible.</a:t>
            </a:r>
          </a:p>
        </p:txBody>
      </p:sp>
      <p:pic>
        <p:nvPicPr>
          <p:cNvPr id="5" name="Picture 4" descr="role-home-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416" y="2331720"/>
            <a:ext cx="202668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GS Branch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gsdesk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GS Branch — portals, GS window, requisitions.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gsdesk. GS Window endorses F1s; sees requisitions for awareness.</a:t>
            </a:r>
          </a:p>
        </p:txBody>
      </p:sp>
      <p:pic>
        <p:nvPicPr>
          <p:cNvPr id="5" name="Picture 4" descr="role-home-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DAF / MANAC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daf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DAF — portals, MANAC, Creditors, FY bids.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daf. Creditors and payment shortcuts on home; second tab for creditor import.</a:t>
            </a:r>
          </a:p>
        </p:txBody>
      </p:sp>
      <p:pic>
        <p:nvPicPr>
          <p:cNvPr id="5" name="Picture 4" descr="role-home-d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703" y="2331720"/>
            <a:ext cx="200411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AIAD Due Diligence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aiad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AIAD — due diligence window and cost comparative.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aiad. Due diligence queue and cost comparative access from home.</a:t>
            </a:r>
          </a:p>
        </p:txBody>
      </p:sp>
      <p:pic>
        <p:nvPicPr>
          <p:cNvPr id="5" name="Picture 4" descr="role-home-ai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Supplier (Nixzimo)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nixzimo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Tailored home for Supplier — supplier window and doc import.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nixzimo. Supplier portal only — RFQ/PO response upload.</a:t>
            </a:r>
          </a:p>
        </p:txBody>
      </p:sp>
      <p:pic>
        <p:nvPicPr>
          <p:cNvPr id="5" name="Picture 4" descr="role-home-supp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Store Officer (full ledgers)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Store Officer home — full GL and stores dashboard (no role card; standard KPI dashboard).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store. Full sidebar with all five GL ledgers and operational registers.</a:t>
            </a:r>
          </a:p>
        </p:txBody>
      </p:sp>
      <p:pic>
        <p:nvPicPr>
          <p:cNvPr id="5" name="Picture 4" descr="role-home-store_offi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27" y="2331720"/>
            <a:ext cx="208886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Viewer (read-only) -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Viewer home — read-only dashboard with limited module access.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Login as viewer. Dashboard and help only; save buttons disabled across modules.</a:t>
            </a:r>
          </a:p>
        </p:txBody>
      </p:sp>
      <p:pic>
        <p:nvPicPr>
          <p:cNvPr id="5" name="Picture 4" descr="role-home-vie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Role-based navigation (sidebar)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RP Gate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RP Gate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Storeman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storeman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Storeman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store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509" y="2331720"/>
            <a:ext cx="232250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Workshop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Workshop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100" y="2331720"/>
            <a:ext cx="25373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Orderly Room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orderly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Orderly Room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order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Department comms (SysAdmin)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sysadmin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Department comms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com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Directorate Procurement (DP)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DP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16" y="2331720"/>
            <a:ext cx="251588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GS Branch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gsdesk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GS Branch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DAF / MANAC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daf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DAF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d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827" y="2331720"/>
            <a:ext cx="24878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AIAD Due Diligence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aiad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AIAD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ai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Supplier (Nixzimo)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nixzimo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Supplier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supp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Store Officer (full ledgers)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Store Officer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store_offi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23" y="2331720"/>
            <a:ext cx="259307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Viewer (read-only) - sidebar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Login: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Sidebar navigation visible to Viewer after login.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Only modules allowed by config.js role bundle appear. Submenus (Portals, GL, ZNA Q) expand on click. Compare across roles to see access control.</a:t>
            </a:r>
          </a:p>
        </p:txBody>
      </p:sp>
      <p:pic>
        <p:nvPicPr>
          <p:cNvPr id="5" name="Picture 4" descr="role-nav-vie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69494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Dashboard &amp; communications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Operations overview: KPI cards, alerts, universal search, and quick links.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Open from sidebar Home. Cards link to ledgers and registers. Alerts flag overdue items (Creditors, undelivered, loans). Search jumps to any allowed module.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31" y="2331720"/>
            <a:ext cx="202505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Orderly Room - DF &amp; Correspondence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orderly-room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Orderly Room Daily File and correspondence routing mirror.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Clerk logs incoming/outgoing correspondence and mirrors requisitions. Links to correspondence files. Used by Orderly Room and Admin AO roles.</a:t>
            </a:r>
          </a:p>
        </p:txBody>
      </p:sp>
      <p:pic>
        <p:nvPicPr>
          <p:cNvPr id="5" name="Picture 4" descr="orderly-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174" y="2331720"/>
            <a:ext cx="251917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IT Directorate - Communications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it-dir-comms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Internal IT Directorate messaging between departments and command.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Departments post demands and replies. OC desks and workshop/orderly roles use this instead of GL screens. Inbox filters by office.</a:t>
            </a:r>
          </a:p>
        </p:txBody>
      </p:sp>
      <p:pic>
        <p:nvPicPr>
          <p:cNvPr id="5" name="Picture 4" descr="it-dir-com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424" y="2331720"/>
            <a:ext cx="418467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Portals - procurement workflow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portals-board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Visual map of the ICT procurement workflow from F1 raise through supply and payment.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Click a stage tile to open the matching portal desk or register. Shows counts per stage. Entry point for DP, GS, DAF, AIAD, and Supplier users.</a:t>
            </a:r>
          </a:p>
        </p:txBody>
      </p:sp>
      <p:pic>
        <p:nvPicPr>
          <p:cNvPr id="5" name="Picture 4" descr="portals-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536" y="2331720"/>
            <a:ext cx="324844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IT Dir department desks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Systems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dept-sysadmin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Systems Administration department desk: demand form, inbox, and establishment view.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Submit ICT demands CC Director, DD, AQSO2 and TechStores. Inbox shows office messages. Establishment panel lists posts and equipment entitlements.</a:t>
            </a:r>
          </a:p>
        </p:txBody>
      </p:sp>
      <p:pic>
        <p:nvPicPr>
          <p:cNvPr id="5" name="Picture 4" descr="dept-sys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70" y="2331720"/>
            <a:ext cx="323177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Workshop department desk for spares, tools, and repair support requests.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Same desk pattern as other departments. Primary link is Workshop Register. Demands notify command and TechStores.</a:t>
            </a:r>
          </a:p>
        </p:txBody>
      </p:sp>
      <p:pic>
        <p:nvPicPr>
          <p:cNvPr id="5" name="Picture 4" descr="dept-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02" y="2331720"/>
            <a:ext cx="361171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Computer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dept-compengr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Computer Engineering / DBA desk for servers, storage, and network items.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Raise structured demands for infrastructure. Tracks inbox replies and establishment data for the Comp Eng office.</a:t>
            </a:r>
          </a:p>
        </p:txBody>
      </p:sp>
      <p:pic>
        <p:nvPicPr>
          <p:cNvPr id="5" name="Picture 4" descr="dept-compeng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629" y="2331720"/>
            <a:ext cx="367226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dept-swengr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Software Engineering desk for dev tools, licences, and project support.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Submit software and licence needs through the demand form. Messages flow through IT Dir Comms to TechStores procurement when needed.</a:t>
            </a:r>
          </a:p>
        </p:txBody>
      </p:sp>
      <p:pic>
        <p:nvPicPr>
          <p:cNvPr id="5" name="Picture 4" descr="dept-sweng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60" y="2331720"/>
            <a:ext cx="34461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ICT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dept-ictsec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ICT Security desk for security appliances, certificates, and tools.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Department-specific demand and inbox. Used by OC ICT Security for authorised security-related ICT requirements.</a:t>
            </a:r>
          </a:p>
        </p:txBody>
      </p:sp>
      <p:pic>
        <p:nvPicPr>
          <p:cNvPr id="5" name="Picture 4" descr="dept-icts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67" y="2331720"/>
            <a:ext cx="372658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ITTS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dept-itts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IT Training School desk for training equipment and media.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Raise demands for school ICT. Establishment panel shows ITTS posts. Does not expose full stores ledgers.</a:t>
            </a:r>
          </a:p>
        </p:txBody>
      </p:sp>
      <p:pic>
        <p:nvPicPr>
          <p:cNvPr id="5" name="Picture 4" descr="dept-it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366" y="2331720"/>
            <a:ext cx="342278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Admin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Admin Office desk for general admin ICT and internal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Demand form and inbox for Admin Office staff. Shortcuts to orderly and comms workflows from role home.</a:t>
            </a:r>
          </a:p>
        </p:txBody>
      </p:sp>
      <p:pic>
        <p:nvPicPr>
          <p:cNvPr id="5" name="Picture 4" descr="dept-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010" y="2331720"/>
            <a:ext cx="36195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Dept Desk - Gate / 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dept-gate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Gate / RP desk for gate equipment demands.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Links to Gate Register from shortcuts. Used when RP needs to request gate-related ICT items through command channels.</a:t>
            </a:r>
          </a:p>
        </p:txBody>
      </p:sp>
      <p:pic>
        <p:nvPicPr>
          <p:cNvPr id="5" name="Picture 4" descr="dept-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239" y="2331720"/>
            <a:ext cx="351104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Stakeholder portals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DP Window - procurement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DP Window — Directorate Procurement portal for quotations, adjudication, and PO.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Case list shows all DP pipeline items. Open a case to upload quotes, record winner, raise PO, hand to AIAD. Summary stats: action, pipeline, done.</a:t>
            </a:r>
          </a:p>
        </p:txBody>
      </p:sp>
      <p:pic>
        <p:nvPicPr>
          <p:cNvPr id="5" name="Picture 4" descr="stakeholder-desk-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GS Branch Window - F1 endorsement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GS Branch Window — Colonel SD endorsement of DP F1 forms.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Queue of cases awaiting GS endorsement. Upload signed endorsement scan. Sees full pipeline from F1 raise onward.</a:t>
            </a:r>
          </a:p>
        </p:txBody>
      </p:sp>
      <p:pic>
        <p:nvPicPr>
          <p:cNvPr id="5" name="Picture 4" descr="stakeholder-desk-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DAF Window - MANAC / supplier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DAF Window — MANAC endorsement and supplier payment tab.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Endorse F1 for funds (MANAC). Record payment vouchers after delivery inspection. First tab of DAF portal.</a:t>
            </a:r>
          </a:p>
        </p:txBody>
      </p:sp>
      <p:pic>
        <p:nvPicPr>
          <p:cNvPr id="5" name="Picture 4" descr="stakeholder-desk-daf-procur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DAF Window - Creditors import &amp; 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DAF Window — Creditors tab for import and payment chase.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Import DAF creditor/paid lists via drag-drop. Match to TechStores Creditors register. Pay queue links to supplier debts records.</a:t>
            </a:r>
          </a:p>
        </p:txBody>
      </p:sp>
      <p:pic>
        <p:nvPicPr>
          <p:cNvPr id="5" name="Picture 4" descr="stakeholder-desk-daf-credit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667" y="2331720"/>
            <a:ext cx="210018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Due Diligence Window - AIAD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Due Diligence Window — AIAD price audit before contract award.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Review F1, spec, and quotes. Issue Price Due Diligence certificate. Upload signed certificate. Full AIAD pipeline visible.</a:t>
            </a:r>
          </a:p>
        </p:txBody>
      </p:sp>
      <p:pic>
        <p:nvPicPr>
          <p:cNvPr id="5" name="Picture 4" descr="stakeholder-desk-ai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Supplier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stakeholder-desk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Supplier Window — Nixzimo and registered suppliers respond to RFQs and POs.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See assigned cases only. Upload quotation, spec compliance, delivery note, invoice, banking. No access to internal ledgers.</a:t>
            </a:r>
          </a:p>
        </p:txBody>
      </p:sp>
      <p:pic>
        <p:nvPicPr>
          <p:cNvPr id="5" name="Picture 4" descr="stakeholder-desk-supp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General ledger &amp; stores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GL 6122100009 - ZOFF / Office Supplies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gl-2200600002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GL vote for office supplies and services (ZOFF / 6122100009).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Track monthly target, receipts, issues, and balance for this vote. Store officer edits; directorate roles view-only. Feeds dashboard KPIs.</a:t>
            </a:r>
          </a:p>
        </p:txBody>
      </p:sp>
      <p:pic>
        <p:nvPicPr>
          <p:cNvPr id="5" name="Picture 4" descr="gl-22006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GL 2200600003 - Software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gl-2200600003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GL vote for software licences.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Records licence purchases and issues against the software vote. Used when procuring or issuing licensed software.</a:t>
            </a:r>
          </a:p>
        </p:txBody>
      </p:sp>
      <p:pic>
        <p:nvPicPr>
          <p:cNvPr id="5" name="Picture 4" descr="gl-220060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GL 220200002 - Tech Equipment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gl-220200002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GL vote for tech equipment maintenance contracts and spend.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Tracks maintenance-related expenditure and movements for ICT equipment upkeep.</a:t>
            </a:r>
          </a:p>
        </p:txBody>
      </p:sp>
      <p:pic>
        <p:nvPicPr>
          <p:cNvPr id="5" name="Picture 4" descr="gl-2202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624" y="2331720"/>
            <a:ext cx="380827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GL 2201900002 - Spare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gl-2201900002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GL vote for spare parts and consumables.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Ledger for spare parts issues and receipts linked to workshop and stores operations.</a:t>
            </a:r>
          </a:p>
        </p:txBody>
      </p:sp>
      <p:pic>
        <p:nvPicPr>
          <p:cNvPr id="5" name="Picture 4" descr="gl-22019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GL 3112210001 - ICT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gl-3112210001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GL vote for ICT equipment capital purchases.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Primary capital vote for laptops, desktops, servers, and major ICT buys. Links to procurement and accountability registers.</a:t>
            </a:r>
          </a:p>
        </p:txBody>
      </p:sp>
      <p:pic>
        <p:nvPicPr>
          <p:cNvPr id="5" name="Picture 4" descr="gl-311221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Issue Voucher / ZNA-Q-1033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voucher-module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Shortcut to ZNA Q 1033 Issue and Receipt Voucher — the main daily stores movement form.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Same form as zna-q-1033. Storeman selects items from catalog, records issue/receipt, prints voucher. Updates stock balances.</a:t>
            </a:r>
          </a:p>
        </p:txBody>
      </p:sp>
      <p:pic>
        <p:nvPicPr>
          <p:cNvPr id="5" name="Picture 4" descr="voucher-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161" y="2331720"/>
            <a:ext cx="175919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Stock Take - Full Stores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stock-take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Full stores inventory count and variance recording.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Start a stock take, enter counted quantities, compare to system balance, and record discrepancies. Supports print/export of results.</a:t>
            </a:r>
          </a:p>
        </p:txBody>
      </p:sp>
      <p:pic>
        <p:nvPicPr>
          <p:cNvPr id="5" name="Picture 4" descr="stock-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49" y="2331720"/>
            <a:ext cx="349642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Unit Check Log - ASO Ch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unit-checks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Unit check log per ASO Chapter 28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Record periodic checks of stores held at units/formations. Audit trail for compliance visits.</a:t>
            </a:r>
          </a:p>
        </p:txBody>
      </p:sp>
      <p:pic>
        <p:nvPicPr>
          <p:cNvPr id="5" name="Picture 4" descr="unit-che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Inventory of Accommodation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accommodation-stores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Inventory of accommodation stores (non-ICT accommodation items).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Separate ledger for accommodation store items. Same movement patterns as main stores where applicable.</a:t>
            </a:r>
          </a:p>
        </p:txBody>
      </p:sp>
      <p:pic>
        <p:nvPicPr>
          <p:cNvPr id="5" name="Picture 4" descr="accommodation-st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384" y="2331720"/>
            <a:ext cx="478475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Financial Year Bids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financial-year-bids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Annual financial year bid submissions and vote planning.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Enter bid lines per GL vote for the upcoming FY. Used by TechStores and DAF for planning. Import/export bid packs.</a:t>
            </a:r>
          </a:p>
        </p:txBody>
      </p:sp>
      <p:pic>
        <p:nvPicPr>
          <p:cNvPr id="5" name="Picture 4" descr="financial-year-b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165" y="2331720"/>
            <a:ext cx="20919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Equipment, loans &amp; returns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Unit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unit-equipment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Unit-level equipment holdings summary.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View equipment allocated to units/formations. Supports reconciliation with ICT accountability and distribution lists.</a:t>
            </a:r>
          </a:p>
        </p:txBody>
      </p:sp>
      <p:pic>
        <p:nvPicPr>
          <p:cNvPr id="5" name="Picture 4" descr="unit-equip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ICT Asset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ict-accountability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ZNA ICT Asset Register — equipment accountability by unit and holder.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Add/edit assets with ZA number, unit, holder, and status. Filter by unit. Struck-off and transfer actions. Core audit register.</a:t>
            </a:r>
          </a:p>
        </p:txBody>
      </p:sp>
      <p:pic>
        <p:nvPicPr>
          <p:cNvPr id="5" name="Picture 4" descr="ict-accounta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29" y="2331720"/>
            <a:ext cx="269286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ICT Equipment Distribution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ict-distribution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ICT equipment distribution lists for bulk issues to units.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Manage named distribution waves (e.g. laptop programmes). Track which units received which tranche.</a:t>
            </a:r>
          </a:p>
        </p:txBody>
      </p:sp>
      <p:pic>
        <p:nvPicPr>
          <p:cNvPr id="5" name="Picture 4" descr="ict-distrib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577" y="2331720"/>
            <a:ext cx="39423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Temporary Loans - Controlled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temporary-loans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Temporary loans of controlled stores (typically 14-day limit).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Issue on loan with return date. Alerts when overdue. Separate from permanent loans and Q 1033 permanent issues.</a:t>
            </a:r>
          </a:p>
        </p:txBody>
      </p:sp>
      <p:pic>
        <p:nvPicPr>
          <p:cNvPr id="5" name="Picture 4" descr="temporary-loa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Permanent Loans - Laptops &amp; iPads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permanent-loans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Permanent loans of laptops and iPads under Comd/34 authority.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Long-term personal issue register. Tracks holder, unit, and loan authority. Distinct from temporary loans.</a:t>
            </a:r>
          </a:p>
        </p:txBody>
      </p:sp>
      <p:pic>
        <p:nvPicPr>
          <p:cNvPr id="5" name="Picture 4" descr="permanent-loa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Monthly Returns - Unit ICT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monthly-returns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Monthly returns of unit ICT equipment status.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Units report equipment held, serviceability, and changes each month. TechStores consolidates for command returns.</a:t>
            </a:r>
          </a:p>
        </p:txBody>
      </p:sp>
      <p:pic>
        <p:nvPicPr>
          <p:cNvPr id="5" name="Picture 4" descr="monthly-retur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78" y="2331720"/>
            <a:ext cx="180456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TechStores Equipment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techstores-equipment-register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TechStores equipment register — internal equipment asset list.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Catalogue of equipment types and serials held by TechStores. Complements ICT accountability for store-held stock.</a:t>
            </a:r>
          </a:p>
        </p:txBody>
      </p:sp>
      <p:pic>
        <p:nvPicPr>
          <p:cNvPr id="5" name="Picture 4" descr="techstores-equipment-regi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02" y="2331720"/>
            <a:ext cx="366691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Procurement &amp; creditors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Requisitions - In-tray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unit-requisitions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Requisitions in-tray — incoming unit and formation requests.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Units submit requirements; TechStores triages, endorses, or converts to procurement. Age strip shows backlog. Links to PFMS numbers.</a:t>
            </a:r>
          </a:p>
        </p:txBody>
      </p:sp>
      <p:pic>
        <p:nvPicPr>
          <p:cNvPr id="5" name="Picture 4" descr="unit-requisi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237" y="2331720"/>
            <a:ext cx="157104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Import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doc-import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Import document — upload or paste scans to auto-fill forms.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Drop PDF/image or paste text. Server parses minute, quotation, PO, F1, spec, or D-note and applies fields to the matching module.</a:t>
            </a:r>
          </a:p>
        </p:txBody>
      </p:sp>
      <p:pic>
        <p:nvPicPr>
          <p:cNvPr id="5" name="Picture 4" descr="doc-im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DP F1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dp-f1-form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DP F1 ITDIR Form — official authority to procure ICT items.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F1 indent, attach spec, route through GS endorsement and DAF MANAC. Print official layout. Central procurement document.</a:t>
            </a:r>
          </a:p>
        </p:txBody>
      </p:sp>
      <p:pic>
        <p:nvPicPr>
          <p:cNvPr id="5" name="Picture 4" descr="dp-f1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21" y="2331720"/>
            <a:ext cx="270587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Cost Comparative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cost-comparative-schedule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Cost comparative schedule — grid comparing vendor prices for the same requirement.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Enter vendor columns and line prices. Supports AIAD due diligence and DP adjudication. Print for file.</a:t>
            </a:r>
          </a:p>
        </p:txBody>
      </p:sp>
      <p:pic>
        <p:nvPicPr>
          <p:cNvPr id="5" name="Picture 4" descr="cost-comparative-sche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14" y="2331720"/>
            <a:ext cx="339969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Spec/Tech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spec-evaluation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Specification and technical evaluation of supplier quotations.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Score quotes against required spec. Record evaluation committee findings. Used before DP adjudication and AIAD diligence.</a:t>
            </a:r>
          </a:p>
        </p:txBody>
      </p:sp>
      <p:pic>
        <p:nvPicPr>
          <p:cNvPr id="5" name="Picture 4" descr="spec-evalu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290" y="2331720"/>
            <a:ext cx="20489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Rough Guide Quotation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guide-quotation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Rough guide quotation — quick cost estimate before formal quotes.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Build indicative pricing from catalog and benchmarks. Used early in procurement planning. Not a formal DP document.</a:t>
            </a:r>
          </a:p>
        </p:txBody>
      </p:sp>
      <p:pic>
        <p:nvPicPr>
          <p:cNvPr id="5" name="Picture 4" descr="guide-quo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986" y="2331720"/>
            <a:ext cx="409954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ICT Procurement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dp-procurement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ICT Procurement Cycle — eight-step tracker for every DP case.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Each case moves F1 → GS → MANAC → quote → eval → PO → delivery → payment. Status filters and case detail. All portals read this pipeline.</a:t>
            </a:r>
          </a:p>
        </p:txBody>
      </p:sp>
      <p:pic>
        <p:nvPicPr>
          <p:cNvPr id="5" name="Picture 4" descr="dp-procur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49" y="2331720"/>
            <a:ext cx="279442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Purchase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purchase-orders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Purchase order register — electronic and manual/DAF POs.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Create and track POs through the procurement cycle. Upload signed PO scans. Supplier portal sees assigned POs.</a:t>
            </a:r>
          </a:p>
        </p:txBody>
      </p:sp>
      <p:pic>
        <p:nvPicPr>
          <p:cNvPr id="5" name="Picture 4" descr="purchase-or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2331720"/>
            <a:ext cx="212140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Delivery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delivery-note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Supplier delivery note capture for goods inward.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Record delivery note details against PO/supplier. Supports doc import from scanned D-note. Feeds Creditors when unpaid.</a:t>
            </a:r>
          </a:p>
        </p:txBody>
      </p:sp>
      <p:pic>
        <p:nvPicPr>
          <p:cNvPr id="5" name="Picture 4" descr="delivery-n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Undelivered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undelivered-orders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Orders placed with suppliers but goods not yet received.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Track PO lines awaiting delivery. Age analysis and chase actions. Links to procurement cycle and Creditors when goods arrive.</a:t>
            </a:r>
          </a:p>
        </p:txBody>
      </p:sp>
      <p:pic>
        <p:nvPicPr>
          <p:cNvPr id="5" name="Picture 4" descr="undelivered-or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860" y="2331720"/>
            <a:ext cx="10797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Creditors - non-paid goods / DAF payment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supplier-debts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Creditors register — goods received but not yet paid.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Record GRN against supplier, amount, age of debt. DAF chases payment. Import DAF creditor lists. Intelligence panel flags duplicates.</a:t>
            </a:r>
          </a:p>
        </p:txBody>
      </p:sp>
      <p:pic>
        <p:nvPicPr>
          <p:cNvPr id="5" name="Picture 4" descr="supplier-deb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29" y="2331720"/>
            <a:ext cx="91606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Suppliers and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suppliers-contracts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Suppliers and contracts register.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Maintain supplier master data, contracts, and banking details. Used when raising POs and supplier portal routing.</a:t>
            </a:r>
          </a:p>
        </p:txBody>
      </p:sp>
      <p:pic>
        <p:nvPicPr>
          <p:cNvPr id="5" name="Picture 4" descr="suppliers-contra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737" y="2331720"/>
            <a:ext cx="106204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Workshop &amp; compare tools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Workshop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workshop-repairs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Workshop Register — repairs intake, status, and completion.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Log faulty equipment, track repair progress, assign technician. Links to receipt cert on return. Workshop role primary screen.</a:t>
            </a:r>
          </a:p>
        </p:txBody>
      </p:sp>
      <p:pic>
        <p:nvPicPr>
          <p:cNvPr id="5" name="Picture 4" descr="workshop-repai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08" y="2331720"/>
            <a:ext cx="377970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Workshop Receipt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workshop-receipt-cert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Workshop receipt certificate for repaired items returned to holder.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Certify workshop completed repair and item returned. Print certificate. Links to Workshop Register repair record.</a:t>
            </a:r>
          </a:p>
        </p:txBody>
      </p:sp>
      <p:pic>
        <p:nvPicPr>
          <p:cNvPr id="5" name="Picture 4" descr="workshop-receipt-ce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90" y="2331720"/>
            <a:ext cx="37825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Laptop Compare - buy the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laptop-compare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Laptop Compare — rank catalog laptops by duty profile and pick the best buy.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Select duty profile (e.g. HQ staff, field). System scores RAM, CPU, price. Recommended buy banner and bar chart. For workshop/procurement.</a:t>
            </a:r>
          </a:p>
        </p:txBody>
      </p:sp>
      <p:pic>
        <p:nvPicPr>
          <p:cNvPr id="5" name="Picture 4" descr="laptop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702" y="2331720"/>
            <a:ext cx="488211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H2H ICT Comparison - crawl &amp;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ict-compare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H2H ICT Comparison — crawl web specs and compare machines head-to-head.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Search category, select up to several models, side-by-side spec table with winner highlighting. Buy-score chart ranks value for duty.</a:t>
            </a:r>
          </a:p>
        </p:txBody>
      </p:sp>
      <p:pic>
        <p:nvPicPr>
          <p:cNvPr id="5" name="Picture 4" descr="ict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43" y="2331720"/>
            <a:ext cx="188843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Gate Register (RP)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gate-register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Gate Register — ICT equipment in/out at the Directorate gate (RP).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Record serial, holder, direction in/out, timestamps. Shows equipment still on site. RP Gate role primary screen.</a:t>
            </a:r>
          </a:p>
        </p:txBody>
      </p:sp>
      <p:pic>
        <p:nvPicPr>
          <p:cNvPr id="5" name="Picture 4" descr="gate-regi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033" y="2331720"/>
            <a:ext cx="402745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ZNA Q forms index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SUMMARY OF Q FORMS -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zna-q-forms-index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Index of all ZNA Q and SVCS forms — implemented and reference-only.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Browse ASO form catalogue. Green links open fillable modules; grey entries are paper-only reference. Storeman primary entry to Q forms.</a:t>
            </a:r>
          </a:p>
        </p:txBody>
      </p:sp>
      <p:pic>
        <p:nvPicPr>
          <p:cNvPr id="5" name="Picture 4" descr="zna-q-forms-ind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797" y="2331720"/>
            <a:ext cx="81592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ZNA Q &amp; SVCS forms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982 - Combined Indent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zna-q-982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982: Combined indent and voucher for stores.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9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609" y="2331720"/>
            <a:ext cx="269430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178 - Sub Ledger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178: Ledger (sub / distribution ledger sheet).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90" y="2331720"/>
            <a:ext cx="476213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1033 - Issue &amp; Receipt Voucher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1033: Issue and receipt voucher (large and small).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702" y="2331720"/>
            <a:ext cx="405011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1043 - Condemnation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zna-q-1043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1043: Report on stores and condemnation certificate.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03" y="2331720"/>
            <a:ext cx="399551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80 - Ledger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80: Schedule of stores boarded / Ledger sheet.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SVCS/890 - Demand /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zna-svcs-890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SVCS 890: Demand / Issue.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svcs-8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1179 - Clothing Issue Voucher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zna-q-1179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1179: Clothing and necessaries issue voucher.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987 - Stocktaking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zna-q-987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987: Certificate of stocktaking.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9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3977 - Neglect / Damage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zna-q-3977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3977: Equipment/vehicle neglect, misuse and damage report.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39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784" y="2331720"/>
            <a:ext cx="428795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1157 - Clothing &amp; Equipment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1157: Clothing and personal equipment record.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985 - Discrepancy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zna-q-985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985: Discrepancy report.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9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076" y="2331720"/>
            <a:ext cx="537136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1 - Stores lost/damaged write-off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1: Statement of stores lost or damaged to be written off.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998 - Loss / Damage / Destruction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zna-q-998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998: Statement of loss, damage or destruction.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209" y="2331720"/>
            <a:ext cx="537710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1680 - Miscellaneous credit/debit voucher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zna-q-1680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1680: Miscellaneous credit/debit voucher.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3 - Issue on repayment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3: Issue to a Government department on repayment.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31 - Cash purchase / receipt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31: Cash purchase/receipt.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40 - Artisan tools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40: Artisan tools list.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1049 - Transfer voucher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zna-q-1049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1049: Transfer voucher.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1229 - Accidental breakage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zna-q-1229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1229: Certificate of accidental breakage.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1571 - Debit voucher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zna-q-1571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1571: Debit voucher.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5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Q 1954 - Recoveries from individuals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zna-q-1954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Q 1954: Recoveries from individuals.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q-19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ZNA SVCS 1045 - Workshop Indent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zna-svcs-1045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Digital ZNA SVCS 1045: Workshop indent. Official stores form in Annex A Sec 1 Ch 7 layout.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Complete fields on screen, Save stores to database, Print for signature/file. Open from ZNA Q submenu or storeman home. Doc Import can pre-fill from scanned copies.</a:t>
            </a:r>
          </a:p>
        </p:txBody>
      </p:sp>
      <p:pic>
        <p:nvPicPr>
          <p:cNvPr id="5" name="Picture 4" descr="zna-svcs-1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80" y="2331720"/>
            <a:ext cx="5598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463040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Administration &amp; help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Duties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duties-roles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Duties and roles reference for TechStores organisation.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Read-only reference of posts, duties, and system role mappings. Used for onboarding and audits.</a:t>
            </a:r>
          </a:p>
        </p:txBody>
      </p:sp>
      <p:pic>
        <p:nvPicPr>
          <p:cNvPr id="5" name="Picture 4" descr="duties-ro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232" y="2331720"/>
            <a:ext cx="100505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Learning Centre - Process &amp;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process-guides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Learning Centre — process charts and procurement cycle guides.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Visual flowcharts for stores, procurement, and portals. Supplier and staff training material.</a:t>
            </a:r>
          </a:p>
        </p:txBody>
      </p:sp>
      <p:pic>
        <p:nvPicPr>
          <p:cNvPr id="5" name="Picture 4" descr="process-gui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551" y="2331720"/>
            <a:ext cx="250041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System Help /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system-help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System help and dictionary of terms.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Searchable glossary and how-to notes. Available to all roles including storeman and viewer.</a:t>
            </a:r>
          </a:p>
        </p:txBody>
      </p:sp>
      <p:pic>
        <p:nvPicPr>
          <p:cNvPr id="5" name="Picture 4" descr="system-hel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22" y="2331720"/>
            <a:ext cx="280687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reports-module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Reports — export and summary views across registers.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Generate summary reports from ledgers, loans, procurement, and accountability. Print or copy for command briefs.</a:t>
            </a:r>
          </a:p>
        </p:txBody>
      </p:sp>
      <p:pic>
        <p:nvPicPr>
          <p:cNvPr id="5" name="Picture 4" descr="reports-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384" y="2331720"/>
            <a:ext cx="545275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User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user-management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User management — admin only.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Create users, assign roles, reset access. Admin role only. Changes audit-logged.</a:t>
            </a:r>
          </a:p>
        </p:txBody>
      </p:sp>
      <p:pic>
        <p:nvPicPr>
          <p:cNvPr id="5" name="Picture 4" descr="user-manag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527" y="2331720"/>
            <a:ext cx="20564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5E3B"/>
                </a:solidFill>
              </a:defRPr>
            </a:pPr>
            <a:r>
              <a:t>Release 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Module: release-cut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What it is: Release cut — transfer buying power between GL votes.</a:t>
            </a:r>
          </a:p>
          <a:p>
            <a:pPr>
              <a:spcAft>
                <a:spcPts val="600"/>
              </a:spcAft>
              <a:defRPr sz="1100">
                <a:solidFill>
                  <a:srgbClr val="344054"/>
                </a:solidFill>
              </a:defRPr>
            </a:pPr>
            <a:r>
              <a:t>How it works: Admin tool to move unspent allocation from one vote to another within the FY. Requires authority and audit trail.</a:t>
            </a:r>
          </a:p>
        </p:txBody>
      </p:sp>
      <p:pic>
        <p:nvPicPr>
          <p:cNvPr id="5" name="Picture 4" descr="release-c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901" y="2331720"/>
            <a:ext cx="4219718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